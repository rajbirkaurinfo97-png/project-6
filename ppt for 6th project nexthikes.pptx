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843A1C27-3A2B-448B-AAF3-1D825C254935}" type="datetimeFigureOut">
              <a:rPr lang="en-US" smtClean="0"/>
              <a:t>6/16/2026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48F51CF1-E54A-410E-95CD-E6296D4D0656}"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866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3A1C27-3A2B-448B-AAF3-1D825C254935}"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51CF1-E54A-410E-95CD-E6296D4D0656}" type="slidenum">
              <a:rPr lang="en-US" smtClean="0"/>
              <a:t>‹#›</a:t>
            </a:fld>
            <a:endParaRPr lang="en-US"/>
          </a:p>
        </p:txBody>
      </p:sp>
    </p:spTree>
    <p:extLst>
      <p:ext uri="{BB962C8B-B14F-4D97-AF65-F5344CB8AC3E}">
        <p14:creationId xmlns:p14="http://schemas.microsoft.com/office/powerpoint/2010/main" val="2484011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3A1C27-3A2B-448B-AAF3-1D825C254935}"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51CF1-E54A-410E-95CD-E6296D4D0656}"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1070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3A1C27-3A2B-448B-AAF3-1D825C254935}"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51CF1-E54A-410E-95CD-E6296D4D0656}" type="slidenum">
              <a:rPr lang="en-US" smtClean="0"/>
              <a:t>‹#›</a:t>
            </a:fld>
            <a:endParaRPr lang="en-US"/>
          </a:p>
        </p:txBody>
      </p:sp>
    </p:spTree>
    <p:extLst>
      <p:ext uri="{BB962C8B-B14F-4D97-AF65-F5344CB8AC3E}">
        <p14:creationId xmlns:p14="http://schemas.microsoft.com/office/powerpoint/2010/main" val="21579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3A1C27-3A2B-448B-AAF3-1D825C254935}"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51CF1-E54A-410E-95CD-E6296D4D0656}"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4832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3A1C27-3A2B-448B-AAF3-1D825C254935}"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51CF1-E54A-410E-95CD-E6296D4D0656}"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5465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3A1C27-3A2B-448B-AAF3-1D825C254935}"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51CF1-E54A-410E-95CD-E6296D4D0656}" type="slidenum">
              <a:rPr lang="en-US" smtClean="0"/>
              <a:t>‹#›</a:t>
            </a:fld>
            <a:endParaRPr lang="en-US"/>
          </a:p>
        </p:txBody>
      </p:sp>
    </p:spTree>
    <p:extLst>
      <p:ext uri="{BB962C8B-B14F-4D97-AF65-F5344CB8AC3E}">
        <p14:creationId xmlns:p14="http://schemas.microsoft.com/office/powerpoint/2010/main" val="3583291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3A1C27-3A2B-448B-AAF3-1D825C254935}"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51CF1-E54A-410E-95CD-E6296D4D0656}"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149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3A1C27-3A2B-448B-AAF3-1D825C254935}"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51CF1-E54A-410E-95CD-E6296D4D0656}" type="slidenum">
              <a:rPr lang="en-US" smtClean="0"/>
              <a:t>‹#›</a:t>
            </a:fld>
            <a:endParaRPr lang="en-US"/>
          </a:p>
        </p:txBody>
      </p:sp>
    </p:spTree>
    <p:extLst>
      <p:ext uri="{BB962C8B-B14F-4D97-AF65-F5344CB8AC3E}">
        <p14:creationId xmlns:p14="http://schemas.microsoft.com/office/powerpoint/2010/main" val="3398988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3A1C27-3A2B-448B-AAF3-1D825C254935}"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51CF1-E54A-410E-95CD-E6296D4D0656}" type="slidenum">
              <a:rPr lang="en-US" smtClean="0"/>
              <a:t>‹#›</a:t>
            </a:fld>
            <a:endParaRPr lang="en-US"/>
          </a:p>
        </p:txBody>
      </p:sp>
    </p:spTree>
    <p:extLst>
      <p:ext uri="{BB962C8B-B14F-4D97-AF65-F5344CB8AC3E}">
        <p14:creationId xmlns:p14="http://schemas.microsoft.com/office/powerpoint/2010/main" val="1867227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3A1C27-3A2B-448B-AAF3-1D825C254935}"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51CF1-E54A-410E-95CD-E6296D4D0656}"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30748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3A1C27-3A2B-448B-AAF3-1D825C254935}"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51CF1-E54A-410E-95CD-E6296D4D0656}"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1999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3A1C27-3A2B-448B-AAF3-1D825C254935}"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51CF1-E54A-410E-95CD-E6296D4D0656}" type="slidenum">
              <a:rPr lang="en-US" smtClean="0"/>
              <a:t>‹#›</a:t>
            </a:fld>
            <a:endParaRPr lang="en-US"/>
          </a:p>
        </p:txBody>
      </p:sp>
    </p:spTree>
    <p:extLst>
      <p:ext uri="{BB962C8B-B14F-4D97-AF65-F5344CB8AC3E}">
        <p14:creationId xmlns:p14="http://schemas.microsoft.com/office/powerpoint/2010/main" val="15986729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3A1C27-3A2B-448B-AAF3-1D825C254935}"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51CF1-E54A-410E-95CD-E6296D4D0656}"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1819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3A1C27-3A2B-448B-AAF3-1D825C254935}"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51CF1-E54A-410E-95CD-E6296D4D0656}"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35851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3A1C27-3A2B-448B-AAF3-1D825C254935}"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51CF1-E54A-410E-95CD-E6296D4D0656}"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33237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3A1C27-3A2B-448B-AAF3-1D825C254935}"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51CF1-E54A-410E-95CD-E6296D4D0656}"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1572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43A1C27-3A2B-448B-AAF3-1D825C254935}" type="datetimeFigureOut">
              <a:rPr lang="en-US" smtClean="0"/>
              <a:t>6/16/2026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8F51CF1-E54A-410E-95CD-E6296D4D0656}" type="slidenum">
              <a:rPr lang="en-US" smtClean="0"/>
              <a:t>‹#›</a:t>
            </a:fld>
            <a:endParaRPr lang="en-US"/>
          </a:p>
        </p:txBody>
      </p:sp>
    </p:spTree>
    <p:extLst>
      <p:ext uri="{BB962C8B-B14F-4D97-AF65-F5344CB8AC3E}">
        <p14:creationId xmlns:p14="http://schemas.microsoft.com/office/powerpoint/2010/main" val="31755073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project-6-sg5jhnrbdh2zk2qdab2mpd.streamlit.app/"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A50122-790D-E4AC-62BA-FBB7BF97DDE0}"/>
              </a:ext>
            </a:extLst>
          </p:cNvPr>
          <p:cNvSpPr>
            <a:spLocks noGrp="1"/>
          </p:cNvSpPr>
          <p:nvPr>
            <p:ph type="title"/>
          </p:nvPr>
        </p:nvSpPr>
        <p:spPr/>
        <p:txBody>
          <a:bodyPr>
            <a:normAutofit fontScale="90000"/>
          </a:bodyPr>
          <a:lstStyle/>
          <a:p>
            <a:r>
              <a:rPr lang="en-US" dirty="0"/>
              <a:t>Sales Forecasting Across Multiple Retail Stores</a:t>
            </a:r>
          </a:p>
        </p:txBody>
      </p:sp>
      <p:sp>
        <p:nvSpPr>
          <p:cNvPr id="5" name="Content Placeholder 4">
            <a:extLst>
              <a:ext uri="{FF2B5EF4-FFF2-40B4-BE49-F238E27FC236}">
                <a16:creationId xmlns:a16="http://schemas.microsoft.com/office/drawing/2014/main" id="{416828C4-B6F3-1DD5-FC8D-31124F1A7D72}"/>
              </a:ext>
            </a:extLst>
          </p:cNvPr>
          <p:cNvSpPr>
            <a:spLocks noGrp="1"/>
          </p:cNvSpPr>
          <p:nvPr>
            <p:ph idx="1"/>
          </p:nvPr>
        </p:nvSpPr>
        <p:spPr/>
        <p:txBody>
          <a:bodyPr/>
          <a:lstStyle/>
          <a:p>
            <a:pPr marL="0" indent="0" algn="ctr">
              <a:buNone/>
            </a:pPr>
            <a:endParaRPr lang="en-US" dirty="0"/>
          </a:p>
          <a:p>
            <a:pPr marL="0" indent="0" algn="ctr">
              <a:buNone/>
            </a:pPr>
            <a:r>
              <a:rPr lang="en-US" dirty="0"/>
              <a:t>Project 6</a:t>
            </a:r>
          </a:p>
          <a:p>
            <a:pPr marL="0" indent="0" algn="ctr">
              <a:buNone/>
            </a:pPr>
            <a:r>
              <a:rPr lang="en-US" dirty="0"/>
              <a:t>Submitted TO - </a:t>
            </a:r>
            <a:r>
              <a:rPr lang="en-US" dirty="0" err="1"/>
              <a:t>NextHikes</a:t>
            </a:r>
            <a:r>
              <a:rPr lang="en-US" dirty="0"/>
              <a:t> IT Solutions</a:t>
            </a:r>
          </a:p>
          <a:p>
            <a:pPr marL="0" indent="0" algn="ctr">
              <a:buNone/>
            </a:pPr>
            <a:r>
              <a:rPr lang="en-US" dirty="0"/>
              <a:t>Submitted By- RAJBIR KAUR</a:t>
            </a:r>
          </a:p>
          <a:p>
            <a:endParaRPr lang="en-US" dirty="0"/>
          </a:p>
        </p:txBody>
      </p:sp>
    </p:spTree>
    <p:extLst>
      <p:ext uri="{BB962C8B-B14F-4D97-AF65-F5344CB8AC3E}">
        <p14:creationId xmlns:p14="http://schemas.microsoft.com/office/powerpoint/2010/main" val="791835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73AC2-6930-1F19-B448-391B85743A2C}"/>
              </a:ext>
            </a:extLst>
          </p:cNvPr>
          <p:cNvSpPr>
            <a:spLocks noGrp="1"/>
          </p:cNvSpPr>
          <p:nvPr>
            <p:ph type="title"/>
          </p:nvPr>
        </p:nvSpPr>
        <p:spPr/>
        <p:txBody>
          <a:bodyPr/>
          <a:lstStyle/>
          <a:p>
            <a:r>
              <a:rPr lang="en-US" dirty="0"/>
              <a:t>1</a:t>
            </a:r>
            <a:r>
              <a:rPr lang="en-US" baseline="30000" dirty="0"/>
              <a:t>ST</a:t>
            </a:r>
            <a:r>
              <a:rPr lang="en-US" dirty="0"/>
              <a:t> Notebook for detailed EDA Process</a:t>
            </a:r>
          </a:p>
        </p:txBody>
      </p:sp>
      <p:pic>
        <p:nvPicPr>
          <p:cNvPr id="5" name="Content Placeholder 4">
            <a:extLst>
              <a:ext uri="{FF2B5EF4-FFF2-40B4-BE49-F238E27FC236}">
                <a16:creationId xmlns:a16="http://schemas.microsoft.com/office/drawing/2014/main" id="{DA263DE1-A085-8680-3DC7-50DB3C10AF74}"/>
              </a:ext>
            </a:extLst>
          </p:cNvPr>
          <p:cNvPicPr>
            <a:picLocks noGrp="1" noChangeAspect="1"/>
          </p:cNvPicPr>
          <p:nvPr>
            <p:ph idx="1"/>
          </p:nvPr>
        </p:nvPicPr>
        <p:blipFill>
          <a:blip r:embed="rId2"/>
          <a:stretch>
            <a:fillRect/>
          </a:stretch>
        </p:blipFill>
        <p:spPr>
          <a:xfrm>
            <a:off x="3145338" y="2557463"/>
            <a:ext cx="5901324" cy="3317875"/>
          </a:xfrm>
          <a:prstGeom prst="rect">
            <a:avLst/>
          </a:prstGeom>
        </p:spPr>
      </p:pic>
    </p:spTree>
    <p:extLst>
      <p:ext uri="{BB962C8B-B14F-4D97-AF65-F5344CB8AC3E}">
        <p14:creationId xmlns:p14="http://schemas.microsoft.com/office/powerpoint/2010/main" val="1504948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9DEF4-3EF1-9DF9-1BE8-6911E9887A2F}"/>
              </a:ext>
            </a:extLst>
          </p:cNvPr>
          <p:cNvSpPr>
            <a:spLocks noGrp="1"/>
          </p:cNvSpPr>
          <p:nvPr>
            <p:ph type="title"/>
          </p:nvPr>
        </p:nvSpPr>
        <p:spPr/>
        <p:txBody>
          <a:bodyPr>
            <a:normAutofit fontScale="90000"/>
          </a:bodyPr>
          <a:lstStyle/>
          <a:p>
            <a:r>
              <a:rPr lang="en-US" dirty="0"/>
              <a:t>Univariate analysis, Bivariate analysis, Multivariate analysis</a:t>
            </a:r>
          </a:p>
        </p:txBody>
      </p:sp>
      <p:pic>
        <p:nvPicPr>
          <p:cNvPr id="5" name="Content Placeholder 4">
            <a:extLst>
              <a:ext uri="{FF2B5EF4-FFF2-40B4-BE49-F238E27FC236}">
                <a16:creationId xmlns:a16="http://schemas.microsoft.com/office/drawing/2014/main" id="{D54F0074-5C15-9401-98AE-10ECB067650B}"/>
              </a:ext>
            </a:extLst>
          </p:cNvPr>
          <p:cNvPicPr>
            <a:picLocks noGrp="1" noChangeAspect="1"/>
          </p:cNvPicPr>
          <p:nvPr>
            <p:ph idx="1"/>
          </p:nvPr>
        </p:nvPicPr>
        <p:blipFill>
          <a:blip r:embed="rId2"/>
          <a:stretch>
            <a:fillRect/>
          </a:stretch>
        </p:blipFill>
        <p:spPr>
          <a:xfrm>
            <a:off x="3145338" y="2557463"/>
            <a:ext cx="5901324" cy="3317875"/>
          </a:xfrm>
          <a:prstGeom prst="rect">
            <a:avLst/>
          </a:prstGeom>
        </p:spPr>
      </p:pic>
    </p:spTree>
    <p:extLst>
      <p:ext uri="{BB962C8B-B14F-4D97-AF65-F5344CB8AC3E}">
        <p14:creationId xmlns:p14="http://schemas.microsoft.com/office/powerpoint/2010/main" val="174948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0A19D-20AC-5FD1-C278-188009E55E88}"/>
              </a:ext>
            </a:extLst>
          </p:cNvPr>
          <p:cNvSpPr>
            <a:spLocks noGrp="1"/>
          </p:cNvSpPr>
          <p:nvPr>
            <p:ph type="title"/>
          </p:nvPr>
        </p:nvSpPr>
        <p:spPr/>
        <p:txBody>
          <a:bodyPr>
            <a:normAutofit/>
          </a:bodyPr>
          <a:lstStyle/>
          <a:p>
            <a:r>
              <a:rPr lang="en-US" dirty="0"/>
              <a:t>Business Insights-</a:t>
            </a:r>
          </a:p>
        </p:txBody>
      </p:sp>
      <p:sp>
        <p:nvSpPr>
          <p:cNvPr id="3" name="Content Placeholder 2">
            <a:extLst>
              <a:ext uri="{FF2B5EF4-FFF2-40B4-BE49-F238E27FC236}">
                <a16:creationId xmlns:a16="http://schemas.microsoft.com/office/drawing/2014/main" id="{4186EDBD-D762-FD97-3B6D-CC0A08863652}"/>
              </a:ext>
            </a:extLst>
          </p:cNvPr>
          <p:cNvSpPr>
            <a:spLocks noGrp="1"/>
          </p:cNvSpPr>
          <p:nvPr>
            <p:ph idx="1"/>
          </p:nvPr>
        </p:nvSpPr>
        <p:spPr/>
        <p:txBody>
          <a:bodyPr>
            <a:normAutofit lnSpcReduction="10000"/>
          </a:bodyPr>
          <a:lstStyle/>
          <a:p>
            <a:r>
              <a:rPr lang="en-US" dirty="0"/>
              <a:t>Promos + assortment synergy drives sales growth.</a:t>
            </a:r>
          </a:p>
          <a:p>
            <a:r>
              <a:rPr lang="en-US" dirty="0"/>
              <a:t>Customers are the strongest predictor, but categorical factors (holidays, promos, assortment, competitor presence) explain variability.</a:t>
            </a:r>
          </a:p>
          <a:p>
            <a:r>
              <a:rPr lang="en-US" dirty="0"/>
              <a:t>Holiday closures are structural dips — promos soften but cannot erase them.</a:t>
            </a:r>
          </a:p>
          <a:p>
            <a:r>
              <a:rPr lang="en-US" dirty="0"/>
              <a:t>Competitor openings reduce sales, especially in dense city centers.</a:t>
            </a:r>
          </a:p>
          <a:p>
            <a:r>
              <a:rPr lang="en-US" dirty="0"/>
              <a:t>Strategic deployment of promos in high‑traffic, extended assortment stores yields the best ROI.</a:t>
            </a:r>
          </a:p>
          <a:p>
            <a:endParaRPr lang="en-US" dirty="0"/>
          </a:p>
        </p:txBody>
      </p:sp>
    </p:spTree>
    <p:extLst>
      <p:ext uri="{BB962C8B-B14F-4D97-AF65-F5344CB8AC3E}">
        <p14:creationId xmlns:p14="http://schemas.microsoft.com/office/powerpoint/2010/main" val="719060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52F20-65A5-B038-1FFB-DA80CA49C671}"/>
              </a:ext>
            </a:extLst>
          </p:cNvPr>
          <p:cNvSpPr>
            <a:spLocks noGrp="1"/>
          </p:cNvSpPr>
          <p:nvPr>
            <p:ph type="title"/>
          </p:nvPr>
        </p:nvSpPr>
        <p:spPr/>
        <p:txBody>
          <a:bodyPr>
            <a:normAutofit/>
          </a:bodyPr>
          <a:lstStyle/>
          <a:p>
            <a:r>
              <a:rPr lang="en-US" dirty="0"/>
              <a:t>Logging</a:t>
            </a:r>
          </a:p>
        </p:txBody>
      </p:sp>
      <p:pic>
        <p:nvPicPr>
          <p:cNvPr id="5" name="Content Placeholder 4">
            <a:extLst>
              <a:ext uri="{FF2B5EF4-FFF2-40B4-BE49-F238E27FC236}">
                <a16:creationId xmlns:a16="http://schemas.microsoft.com/office/drawing/2014/main" id="{DC8547B6-45D7-C93F-0644-ABBF3603F17D}"/>
              </a:ext>
            </a:extLst>
          </p:cNvPr>
          <p:cNvPicPr>
            <a:picLocks noGrp="1" noChangeAspect="1"/>
          </p:cNvPicPr>
          <p:nvPr>
            <p:ph idx="1"/>
          </p:nvPr>
        </p:nvPicPr>
        <p:blipFill>
          <a:blip r:embed="rId2"/>
          <a:stretch>
            <a:fillRect/>
          </a:stretch>
        </p:blipFill>
        <p:spPr>
          <a:xfrm>
            <a:off x="3145338" y="2557463"/>
            <a:ext cx="5901324" cy="3317875"/>
          </a:xfrm>
          <a:prstGeom prst="rect">
            <a:avLst/>
          </a:prstGeom>
        </p:spPr>
      </p:pic>
    </p:spTree>
    <p:extLst>
      <p:ext uri="{BB962C8B-B14F-4D97-AF65-F5344CB8AC3E}">
        <p14:creationId xmlns:p14="http://schemas.microsoft.com/office/powerpoint/2010/main" val="2569795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F209C-D633-79A5-FE44-EA3DE3FF0D52}"/>
              </a:ext>
            </a:extLst>
          </p:cNvPr>
          <p:cNvSpPr>
            <a:spLocks noGrp="1"/>
          </p:cNvSpPr>
          <p:nvPr>
            <p:ph type="title"/>
          </p:nvPr>
        </p:nvSpPr>
        <p:spPr/>
        <p:txBody>
          <a:bodyPr>
            <a:normAutofit fontScale="90000"/>
          </a:bodyPr>
          <a:lstStyle/>
          <a:p>
            <a:r>
              <a:rPr lang="en-US" dirty="0"/>
              <a:t>Notebook 2 - Machine Learning, Build Pipeline with Random Forest</a:t>
            </a:r>
          </a:p>
        </p:txBody>
      </p:sp>
      <p:pic>
        <p:nvPicPr>
          <p:cNvPr id="5" name="Content Placeholder 4">
            <a:extLst>
              <a:ext uri="{FF2B5EF4-FFF2-40B4-BE49-F238E27FC236}">
                <a16:creationId xmlns:a16="http://schemas.microsoft.com/office/drawing/2014/main" id="{7A337ADC-4ED4-77D5-FB55-85BDC538FEAA}"/>
              </a:ext>
            </a:extLst>
          </p:cNvPr>
          <p:cNvPicPr>
            <a:picLocks noGrp="1" noChangeAspect="1"/>
          </p:cNvPicPr>
          <p:nvPr>
            <p:ph idx="1"/>
          </p:nvPr>
        </p:nvPicPr>
        <p:blipFill>
          <a:blip r:embed="rId2"/>
          <a:stretch>
            <a:fillRect/>
          </a:stretch>
        </p:blipFill>
        <p:spPr>
          <a:xfrm>
            <a:off x="3145338" y="2557463"/>
            <a:ext cx="5901324" cy="3317875"/>
          </a:xfrm>
          <a:prstGeom prst="rect">
            <a:avLst/>
          </a:prstGeom>
        </p:spPr>
      </p:pic>
    </p:spTree>
    <p:extLst>
      <p:ext uri="{BB962C8B-B14F-4D97-AF65-F5344CB8AC3E}">
        <p14:creationId xmlns:p14="http://schemas.microsoft.com/office/powerpoint/2010/main" val="2620595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9E900-8721-DF96-7D94-55F0391D1993}"/>
              </a:ext>
            </a:extLst>
          </p:cNvPr>
          <p:cNvSpPr>
            <a:spLocks noGrp="1"/>
          </p:cNvSpPr>
          <p:nvPr>
            <p:ph type="title"/>
          </p:nvPr>
        </p:nvSpPr>
        <p:spPr/>
        <p:txBody>
          <a:bodyPr>
            <a:normAutofit fontScale="90000"/>
          </a:bodyPr>
          <a:lstStyle/>
          <a:p>
            <a:r>
              <a:rPr lang="en-US" sz="5300" dirty="0"/>
              <a:t>Why This Is Good</a:t>
            </a:r>
            <a:br>
              <a:rPr lang="en-US" dirty="0"/>
            </a:br>
            <a:endParaRPr lang="en-US" dirty="0"/>
          </a:p>
        </p:txBody>
      </p:sp>
      <p:sp>
        <p:nvSpPr>
          <p:cNvPr id="3" name="Content Placeholder 2">
            <a:extLst>
              <a:ext uri="{FF2B5EF4-FFF2-40B4-BE49-F238E27FC236}">
                <a16:creationId xmlns:a16="http://schemas.microsoft.com/office/drawing/2014/main" id="{5A2E44AC-7DC5-9163-5F11-C0F18E1047E4}"/>
              </a:ext>
            </a:extLst>
          </p:cNvPr>
          <p:cNvSpPr>
            <a:spLocks noGrp="1"/>
          </p:cNvSpPr>
          <p:nvPr>
            <p:ph idx="1"/>
          </p:nvPr>
        </p:nvSpPr>
        <p:spPr/>
        <p:txBody>
          <a:bodyPr>
            <a:normAutofit fontScale="85000" lnSpcReduction="20000"/>
          </a:bodyPr>
          <a:lstStyle/>
          <a:p>
            <a:r>
              <a:rPr lang="en-US" dirty="0"/>
              <a:t>RMSE ≈ 719 =&gt; means your average prediction error is about 719 sales units. Given the dataset scale (sales often in thousands), that’s a very tight error margin.</a:t>
            </a:r>
          </a:p>
          <a:p>
            <a:r>
              <a:rPr lang="en-US" dirty="0"/>
              <a:t>R2 ≈ 0.965 =&gt; means the model explains ~96.5% of the variance in sales. That’s a very strong fit, showing the features you engineered (date, promos, holidays, etc.) are highly predictive.</a:t>
            </a:r>
          </a:p>
          <a:p>
            <a:r>
              <a:rPr lang="en-US" dirty="0"/>
              <a:t>Selected Loss Function: RMSE</a:t>
            </a:r>
          </a:p>
          <a:p>
            <a:r>
              <a:rPr lang="en-US" dirty="0"/>
              <a:t>Post‑prediction analysis was conducted to interpret model behavior and assess reliability. Feature importance analysis revealed that promotional activity and competition distance were the strongest drivers of sales, while holiday and temporal effects played secondary roles. To estimate confidence intervals, we leveraged the variability of predictions across individual trees in the Random Forest. </a:t>
            </a:r>
          </a:p>
        </p:txBody>
      </p:sp>
    </p:spTree>
    <p:extLst>
      <p:ext uri="{BB962C8B-B14F-4D97-AF65-F5344CB8AC3E}">
        <p14:creationId xmlns:p14="http://schemas.microsoft.com/office/powerpoint/2010/main" val="3678774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52100-D1AC-9301-DE7A-1449C5017553}"/>
              </a:ext>
            </a:extLst>
          </p:cNvPr>
          <p:cNvSpPr>
            <a:spLocks noGrp="1"/>
          </p:cNvSpPr>
          <p:nvPr>
            <p:ph type="title"/>
          </p:nvPr>
        </p:nvSpPr>
        <p:spPr/>
        <p:txBody>
          <a:bodyPr>
            <a:normAutofit/>
          </a:bodyPr>
          <a:lstStyle/>
          <a:p>
            <a:r>
              <a:rPr lang="en-US" dirty="0"/>
              <a:t>Notebook 3 - Time Series Analysis</a:t>
            </a:r>
          </a:p>
        </p:txBody>
      </p:sp>
      <p:pic>
        <p:nvPicPr>
          <p:cNvPr id="5" name="Content Placeholder 4">
            <a:extLst>
              <a:ext uri="{FF2B5EF4-FFF2-40B4-BE49-F238E27FC236}">
                <a16:creationId xmlns:a16="http://schemas.microsoft.com/office/drawing/2014/main" id="{DE7B2EEA-5103-567B-DE89-772171A2886C}"/>
              </a:ext>
            </a:extLst>
          </p:cNvPr>
          <p:cNvPicPr>
            <a:picLocks noGrp="1" noChangeAspect="1"/>
          </p:cNvPicPr>
          <p:nvPr>
            <p:ph idx="1"/>
          </p:nvPr>
        </p:nvPicPr>
        <p:blipFill>
          <a:blip r:embed="rId2"/>
          <a:stretch>
            <a:fillRect/>
          </a:stretch>
        </p:blipFill>
        <p:spPr>
          <a:xfrm>
            <a:off x="3145338" y="2557463"/>
            <a:ext cx="5901324" cy="3317875"/>
          </a:xfrm>
          <a:prstGeom prst="rect">
            <a:avLst/>
          </a:prstGeom>
        </p:spPr>
      </p:pic>
    </p:spTree>
    <p:extLst>
      <p:ext uri="{BB962C8B-B14F-4D97-AF65-F5344CB8AC3E}">
        <p14:creationId xmlns:p14="http://schemas.microsoft.com/office/powerpoint/2010/main" val="2683478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06B2E-4224-5CDA-C786-43C37981E58C}"/>
              </a:ext>
            </a:extLst>
          </p:cNvPr>
          <p:cNvSpPr>
            <a:spLocks noGrp="1"/>
          </p:cNvSpPr>
          <p:nvPr>
            <p:ph type="title"/>
          </p:nvPr>
        </p:nvSpPr>
        <p:spPr/>
        <p:txBody>
          <a:bodyPr>
            <a:normAutofit/>
          </a:bodyPr>
          <a:lstStyle/>
          <a:p>
            <a:r>
              <a:rPr lang="en-US" sz="3100" dirty="0"/>
              <a:t>The sliding‑window transformation successfully reframed the Rossmann sales time series into a supervised learning dataset.</a:t>
            </a:r>
            <a:endParaRPr lang="en-US" dirty="0"/>
          </a:p>
        </p:txBody>
      </p:sp>
      <p:sp>
        <p:nvSpPr>
          <p:cNvPr id="3" name="Content Placeholder 2">
            <a:extLst>
              <a:ext uri="{FF2B5EF4-FFF2-40B4-BE49-F238E27FC236}">
                <a16:creationId xmlns:a16="http://schemas.microsoft.com/office/drawing/2014/main" id="{BE7484A7-FA28-F0F0-FCA4-A8DF7A4C58EA}"/>
              </a:ext>
            </a:extLst>
          </p:cNvPr>
          <p:cNvSpPr>
            <a:spLocks noGrp="1"/>
          </p:cNvSpPr>
          <p:nvPr>
            <p:ph idx="1"/>
          </p:nvPr>
        </p:nvSpPr>
        <p:spPr/>
        <p:txBody>
          <a:bodyPr/>
          <a:lstStyle/>
          <a:p>
            <a:r>
              <a:rPr lang="en-US" dirty="0"/>
              <a:t>The Rossmann sales time series has been successfully reframed into a supervised learning dataset. Each 30‑day block of past sales is used to predict the following day’s sales, enabling accurate forecasting of daily demand for business planning.</a:t>
            </a:r>
          </a:p>
          <a:p>
            <a:r>
              <a:rPr lang="en-US" dirty="0"/>
              <a:t>The dataset has been normalized into a 0–1 range, ensuring all features contribute equally during training. This scaling improves model stability, accelerates convergence, and enhances forecasting accuracy for both ARIMA and LSTM approaches.</a:t>
            </a:r>
          </a:p>
          <a:p>
            <a:endParaRPr lang="en-US" dirty="0"/>
          </a:p>
        </p:txBody>
      </p:sp>
    </p:spTree>
    <p:extLst>
      <p:ext uri="{BB962C8B-B14F-4D97-AF65-F5344CB8AC3E}">
        <p14:creationId xmlns:p14="http://schemas.microsoft.com/office/powerpoint/2010/main" val="70484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5342-6BED-D130-435D-49B2ABCF52EF}"/>
              </a:ext>
            </a:extLst>
          </p:cNvPr>
          <p:cNvSpPr>
            <a:spLocks noGrp="1"/>
          </p:cNvSpPr>
          <p:nvPr>
            <p:ph type="title"/>
          </p:nvPr>
        </p:nvSpPr>
        <p:spPr/>
        <p:txBody>
          <a:bodyPr>
            <a:normAutofit/>
          </a:bodyPr>
          <a:lstStyle/>
          <a:p>
            <a:r>
              <a:rPr lang="en-US" dirty="0"/>
              <a:t>Forecast vs actual sales</a:t>
            </a:r>
          </a:p>
        </p:txBody>
      </p:sp>
      <p:pic>
        <p:nvPicPr>
          <p:cNvPr id="5" name="Content Placeholder 4">
            <a:extLst>
              <a:ext uri="{FF2B5EF4-FFF2-40B4-BE49-F238E27FC236}">
                <a16:creationId xmlns:a16="http://schemas.microsoft.com/office/drawing/2014/main" id="{76072712-F636-A278-20AA-BF4CCBD934F9}"/>
              </a:ext>
            </a:extLst>
          </p:cNvPr>
          <p:cNvPicPr>
            <a:picLocks noGrp="1" noChangeAspect="1"/>
          </p:cNvPicPr>
          <p:nvPr>
            <p:ph idx="1"/>
          </p:nvPr>
        </p:nvPicPr>
        <p:blipFill>
          <a:blip r:embed="rId2"/>
          <a:stretch>
            <a:fillRect/>
          </a:stretch>
        </p:blipFill>
        <p:spPr>
          <a:xfrm>
            <a:off x="3145338" y="2557463"/>
            <a:ext cx="5901324" cy="3317875"/>
          </a:xfrm>
          <a:prstGeom prst="rect">
            <a:avLst/>
          </a:prstGeom>
        </p:spPr>
      </p:pic>
    </p:spTree>
    <p:extLst>
      <p:ext uri="{BB962C8B-B14F-4D97-AF65-F5344CB8AC3E}">
        <p14:creationId xmlns:p14="http://schemas.microsoft.com/office/powerpoint/2010/main" val="3660367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348ED-41C7-260F-8F43-C65BA12764AD}"/>
              </a:ext>
            </a:extLst>
          </p:cNvPr>
          <p:cNvSpPr>
            <a:spLocks noGrp="1"/>
          </p:cNvSpPr>
          <p:nvPr>
            <p:ph type="title"/>
          </p:nvPr>
        </p:nvSpPr>
        <p:spPr/>
        <p:txBody>
          <a:bodyPr>
            <a:normAutofit fontScale="90000"/>
          </a:bodyPr>
          <a:lstStyle/>
          <a:p>
            <a:r>
              <a:rPr lang="en-US" dirty="0"/>
              <a:t>Notebook 4 = Deep learning (LSTM/RNN)</a:t>
            </a:r>
          </a:p>
        </p:txBody>
      </p:sp>
      <p:pic>
        <p:nvPicPr>
          <p:cNvPr id="5" name="Content Placeholder 4">
            <a:extLst>
              <a:ext uri="{FF2B5EF4-FFF2-40B4-BE49-F238E27FC236}">
                <a16:creationId xmlns:a16="http://schemas.microsoft.com/office/drawing/2014/main" id="{CCA95B27-C090-F739-C7D1-B50F846299D0}"/>
              </a:ext>
            </a:extLst>
          </p:cNvPr>
          <p:cNvPicPr>
            <a:picLocks noGrp="1" noChangeAspect="1"/>
          </p:cNvPicPr>
          <p:nvPr>
            <p:ph idx="1"/>
          </p:nvPr>
        </p:nvPicPr>
        <p:blipFill>
          <a:blip r:embed="rId2"/>
          <a:stretch>
            <a:fillRect/>
          </a:stretch>
        </p:blipFill>
        <p:spPr>
          <a:xfrm>
            <a:off x="3145338" y="2557463"/>
            <a:ext cx="5901324" cy="3317875"/>
          </a:xfrm>
          <a:prstGeom prst="rect">
            <a:avLst/>
          </a:prstGeom>
        </p:spPr>
      </p:pic>
    </p:spTree>
    <p:extLst>
      <p:ext uri="{BB962C8B-B14F-4D97-AF65-F5344CB8AC3E}">
        <p14:creationId xmlns:p14="http://schemas.microsoft.com/office/powerpoint/2010/main" val="3377752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CC295-E543-0453-C5AF-8FED587561FE}"/>
              </a:ext>
            </a:extLst>
          </p:cNvPr>
          <p:cNvSpPr>
            <a:spLocks noGrp="1"/>
          </p:cNvSpPr>
          <p:nvPr>
            <p:ph type="title"/>
          </p:nvPr>
        </p:nvSpPr>
        <p:spPr/>
        <p:txBody>
          <a:bodyPr>
            <a:normAutofit/>
          </a:bodyPr>
          <a:lstStyle/>
          <a:p>
            <a:r>
              <a:rPr lang="en-US" dirty="0"/>
              <a:t>Prediction + Inverse Scaling</a:t>
            </a:r>
          </a:p>
        </p:txBody>
      </p:sp>
      <p:sp>
        <p:nvSpPr>
          <p:cNvPr id="3" name="Content Placeholder 2">
            <a:extLst>
              <a:ext uri="{FF2B5EF4-FFF2-40B4-BE49-F238E27FC236}">
                <a16:creationId xmlns:a16="http://schemas.microsoft.com/office/drawing/2014/main" id="{408ED3ED-C521-A520-39AD-E999E86188F2}"/>
              </a:ext>
            </a:extLst>
          </p:cNvPr>
          <p:cNvSpPr>
            <a:spLocks noGrp="1"/>
          </p:cNvSpPr>
          <p:nvPr>
            <p:ph idx="1"/>
          </p:nvPr>
        </p:nvSpPr>
        <p:spPr/>
        <p:txBody>
          <a:bodyPr>
            <a:normAutofit fontScale="92500" lnSpcReduction="20000"/>
          </a:bodyPr>
          <a:lstStyle/>
          <a:p>
            <a:pPr latinLnBrk="1"/>
            <a:r>
              <a:rPr lang="en-US" dirty="0"/>
              <a:t>Predicted Sales: 6787.8706 Actual Sales: 7248.000000000001</a:t>
            </a:r>
          </a:p>
          <a:p>
            <a:pPr latinLnBrk="1"/>
            <a:r>
              <a:rPr lang="en-US" dirty="0"/>
              <a:t>Predicted Sales: 5817.2036 Actual Sales: 6395.0</a:t>
            </a:r>
          </a:p>
          <a:p>
            <a:pPr latinLnBrk="1"/>
            <a:r>
              <a:rPr lang="en-US" dirty="0"/>
              <a:t>Predicted Sales: 9438.293 Actual Sales: 10788.999999999998</a:t>
            </a:r>
          </a:p>
          <a:p>
            <a:pPr latinLnBrk="1"/>
            <a:r>
              <a:rPr lang="en-US" dirty="0"/>
              <a:t>Predicted Sales: 9675.085 Actual Sales: 11144.0</a:t>
            </a:r>
          </a:p>
          <a:p>
            <a:pPr latinLnBrk="1"/>
            <a:r>
              <a:rPr lang="en-US" dirty="0"/>
              <a:t>Predicted Sales: 12273.988 Actual Sales: 12412.0</a:t>
            </a:r>
          </a:p>
          <a:p>
            <a:pPr latinLnBrk="1"/>
            <a:r>
              <a:rPr lang="en-US" dirty="0"/>
              <a:t>RMSE: 1335.17</a:t>
            </a:r>
          </a:p>
          <a:p>
            <a:pPr latinLnBrk="1"/>
            <a:r>
              <a:rPr lang="en-US" dirty="0"/>
              <a:t>MAE: 831.39</a:t>
            </a:r>
          </a:p>
          <a:p>
            <a:pPr latinLnBrk="1"/>
            <a:r>
              <a:rPr lang="en-US"/>
              <a:t>R²: 0.880</a:t>
            </a:r>
          </a:p>
          <a:p>
            <a:pPr marL="0" indent="0">
              <a:buNone/>
            </a:pPr>
            <a:endParaRPr lang="en-US" dirty="0"/>
          </a:p>
        </p:txBody>
      </p:sp>
    </p:spTree>
    <p:extLst>
      <p:ext uri="{BB962C8B-B14F-4D97-AF65-F5344CB8AC3E}">
        <p14:creationId xmlns:p14="http://schemas.microsoft.com/office/powerpoint/2010/main" val="3123869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FAD51-07D7-A892-82CA-EF511BF609AD}"/>
              </a:ext>
            </a:extLst>
          </p:cNvPr>
          <p:cNvSpPr>
            <a:spLocks noGrp="1"/>
          </p:cNvSpPr>
          <p:nvPr>
            <p:ph type="title"/>
          </p:nvPr>
        </p:nvSpPr>
        <p:spPr/>
        <p:txBody>
          <a:bodyPr/>
          <a:lstStyle/>
          <a:p>
            <a:r>
              <a:rPr lang="en-US" dirty="0" err="1"/>
              <a:t>streamlit</a:t>
            </a:r>
            <a:r>
              <a:rPr lang="en-US" dirty="0"/>
              <a:t> run sales_dashboard.py</a:t>
            </a:r>
          </a:p>
        </p:txBody>
      </p:sp>
      <p:pic>
        <p:nvPicPr>
          <p:cNvPr id="5" name="Content Placeholder 4">
            <a:extLst>
              <a:ext uri="{FF2B5EF4-FFF2-40B4-BE49-F238E27FC236}">
                <a16:creationId xmlns:a16="http://schemas.microsoft.com/office/drawing/2014/main" id="{51FE5F3A-7E15-AEE6-619B-D3D6DBDE4F0A}"/>
              </a:ext>
            </a:extLst>
          </p:cNvPr>
          <p:cNvPicPr>
            <a:picLocks noGrp="1" noChangeAspect="1"/>
          </p:cNvPicPr>
          <p:nvPr>
            <p:ph idx="1"/>
          </p:nvPr>
        </p:nvPicPr>
        <p:blipFill>
          <a:blip r:embed="rId2"/>
          <a:stretch>
            <a:fillRect/>
          </a:stretch>
        </p:blipFill>
        <p:spPr>
          <a:xfrm>
            <a:off x="1295401" y="2557463"/>
            <a:ext cx="9706895" cy="3317875"/>
          </a:xfrm>
          <a:prstGeom prst="rect">
            <a:avLst/>
          </a:prstGeom>
        </p:spPr>
      </p:pic>
    </p:spTree>
    <p:extLst>
      <p:ext uri="{BB962C8B-B14F-4D97-AF65-F5344CB8AC3E}">
        <p14:creationId xmlns:p14="http://schemas.microsoft.com/office/powerpoint/2010/main" val="527892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214F1-DD77-5776-2CEF-D71ECD0F5114}"/>
              </a:ext>
            </a:extLst>
          </p:cNvPr>
          <p:cNvSpPr>
            <a:spLocks noGrp="1"/>
          </p:cNvSpPr>
          <p:nvPr>
            <p:ph type="title"/>
          </p:nvPr>
        </p:nvSpPr>
        <p:spPr/>
        <p:txBody>
          <a:bodyPr>
            <a:normAutofit fontScale="90000"/>
          </a:bodyPr>
          <a:lstStyle/>
          <a:p>
            <a:r>
              <a:rPr lang="en-US" dirty="0"/>
              <a:t>Local URL: http://localhost:8501</a:t>
            </a:r>
            <a:br>
              <a:rPr lang="en-US" dirty="0"/>
            </a:br>
            <a:r>
              <a:rPr lang="en-US" dirty="0"/>
              <a:t>  Network URL: http://192.168.31.18:8501</a:t>
            </a:r>
          </a:p>
        </p:txBody>
      </p:sp>
      <p:pic>
        <p:nvPicPr>
          <p:cNvPr id="5" name="Content Placeholder 4">
            <a:extLst>
              <a:ext uri="{FF2B5EF4-FFF2-40B4-BE49-F238E27FC236}">
                <a16:creationId xmlns:a16="http://schemas.microsoft.com/office/drawing/2014/main" id="{BD0004AD-8829-D5C5-D1B5-38C38F7620CF}"/>
              </a:ext>
            </a:extLst>
          </p:cNvPr>
          <p:cNvPicPr>
            <a:picLocks noGrp="1" noChangeAspect="1"/>
          </p:cNvPicPr>
          <p:nvPr>
            <p:ph idx="1"/>
          </p:nvPr>
        </p:nvPicPr>
        <p:blipFill>
          <a:blip r:embed="rId2"/>
          <a:stretch>
            <a:fillRect/>
          </a:stretch>
        </p:blipFill>
        <p:spPr>
          <a:xfrm>
            <a:off x="1295402" y="2557463"/>
            <a:ext cx="9601195" cy="3317875"/>
          </a:xfrm>
          <a:prstGeom prst="rect">
            <a:avLst/>
          </a:prstGeom>
        </p:spPr>
      </p:pic>
    </p:spTree>
    <p:extLst>
      <p:ext uri="{BB962C8B-B14F-4D97-AF65-F5344CB8AC3E}">
        <p14:creationId xmlns:p14="http://schemas.microsoft.com/office/powerpoint/2010/main" val="2523794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0B77-CA14-653C-F8A9-AD742C3E7AB7}"/>
              </a:ext>
            </a:extLst>
          </p:cNvPr>
          <p:cNvSpPr>
            <a:spLocks noGrp="1"/>
          </p:cNvSpPr>
          <p:nvPr>
            <p:ph type="title"/>
          </p:nvPr>
        </p:nvSpPr>
        <p:spPr/>
        <p:txBody>
          <a:bodyPr>
            <a:normAutofit fontScale="90000"/>
          </a:bodyPr>
          <a:lstStyle/>
          <a:p>
            <a:r>
              <a:rPr lang="en-US" dirty="0"/>
              <a:t>URL domain - project-6-sg5jhnrbdh2zk2qdab2mpd</a:t>
            </a:r>
          </a:p>
        </p:txBody>
      </p:sp>
      <p:pic>
        <p:nvPicPr>
          <p:cNvPr id="9" name="Content Placeholder 8">
            <a:extLst>
              <a:ext uri="{FF2B5EF4-FFF2-40B4-BE49-F238E27FC236}">
                <a16:creationId xmlns:a16="http://schemas.microsoft.com/office/drawing/2014/main" id="{B9A2653D-BA7C-659D-DAB7-EE3ABF42E979}"/>
              </a:ext>
            </a:extLst>
          </p:cNvPr>
          <p:cNvPicPr>
            <a:picLocks noGrp="1" noChangeAspect="1"/>
          </p:cNvPicPr>
          <p:nvPr>
            <p:ph idx="1"/>
          </p:nvPr>
        </p:nvPicPr>
        <p:blipFill>
          <a:blip r:embed="rId2"/>
          <a:stretch>
            <a:fillRect/>
          </a:stretch>
        </p:blipFill>
        <p:spPr>
          <a:xfrm>
            <a:off x="3145338" y="2557463"/>
            <a:ext cx="5901324" cy="3317875"/>
          </a:xfrm>
          <a:prstGeom prst="rect">
            <a:avLst/>
          </a:prstGeom>
        </p:spPr>
      </p:pic>
    </p:spTree>
    <p:extLst>
      <p:ext uri="{BB962C8B-B14F-4D97-AF65-F5344CB8AC3E}">
        <p14:creationId xmlns:p14="http://schemas.microsoft.com/office/powerpoint/2010/main" val="3759520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1CCEB-94A7-2E49-EB93-4140E1B0CE7D}"/>
              </a:ext>
            </a:extLst>
          </p:cNvPr>
          <p:cNvSpPr>
            <a:spLocks noGrp="1"/>
          </p:cNvSpPr>
          <p:nvPr>
            <p:ph type="title"/>
          </p:nvPr>
        </p:nvSpPr>
        <p:spPr/>
        <p:txBody>
          <a:bodyPr/>
          <a:lstStyle/>
          <a:p>
            <a:r>
              <a:rPr lang="en-US" dirty="0"/>
              <a:t>The Live Site Link</a:t>
            </a:r>
          </a:p>
        </p:txBody>
      </p:sp>
      <p:sp>
        <p:nvSpPr>
          <p:cNvPr id="3" name="Content Placeholder 2">
            <a:extLst>
              <a:ext uri="{FF2B5EF4-FFF2-40B4-BE49-F238E27FC236}">
                <a16:creationId xmlns:a16="http://schemas.microsoft.com/office/drawing/2014/main" id="{00A01A58-5B2E-F370-71BE-1F005D0E43E9}"/>
              </a:ext>
            </a:extLst>
          </p:cNvPr>
          <p:cNvSpPr>
            <a:spLocks noGrp="1"/>
          </p:cNvSpPr>
          <p:nvPr>
            <p:ph idx="1"/>
          </p:nvPr>
        </p:nvSpPr>
        <p:spPr/>
        <p:txBody>
          <a:bodyPr/>
          <a:lstStyle/>
          <a:p>
            <a:r>
              <a:rPr lang="en-US" dirty="0">
                <a:hlinkClick r:id="rId2"/>
              </a:rPr>
              <a:t>https://project-6-sg5jhnrbdh2zk2qdab2mpd.streamlit.app/</a:t>
            </a:r>
            <a:endParaRPr lang="en-US" dirty="0"/>
          </a:p>
          <a:p>
            <a:endParaRPr lang="en-US" dirty="0"/>
          </a:p>
        </p:txBody>
      </p:sp>
      <p:pic>
        <p:nvPicPr>
          <p:cNvPr id="7" name="Picture 6">
            <a:extLst>
              <a:ext uri="{FF2B5EF4-FFF2-40B4-BE49-F238E27FC236}">
                <a16:creationId xmlns:a16="http://schemas.microsoft.com/office/drawing/2014/main" id="{F4F6FA6D-1571-EA33-F697-A913432F9DD8}"/>
              </a:ext>
            </a:extLst>
          </p:cNvPr>
          <p:cNvPicPr>
            <a:picLocks noChangeAspect="1"/>
          </p:cNvPicPr>
          <p:nvPr/>
        </p:nvPicPr>
        <p:blipFill>
          <a:blip r:embed="rId3"/>
          <a:stretch>
            <a:fillRect/>
          </a:stretch>
        </p:blipFill>
        <p:spPr>
          <a:xfrm>
            <a:off x="1295401" y="3141406"/>
            <a:ext cx="9736394" cy="3005394"/>
          </a:xfrm>
          <a:prstGeom prst="rect">
            <a:avLst/>
          </a:prstGeom>
        </p:spPr>
      </p:pic>
    </p:spTree>
    <p:extLst>
      <p:ext uri="{BB962C8B-B14F-4D97-AF65-F5344CB8AC3E}">
        <p14:creationId xmlns:p14="http://schemas.microsoft.com/office/powerpoint/2010/main" val="1970665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6580D-FC79-B63D-E663-D0FE274FDC18}"/>
              </a:ext>
            </a:extLst>
          </p:cNvPr>
          <p:cNvSpPr>
            <a:spLocks noGrp="1"/>
          </p:cNvSpPr>
          <p:nvPr>
            <p:ph type="title"/>
          </p:nvPr>
        </p:nvSpPr>
        <p:spPr/>
        <p:txBody>
          <a:bodyPr/>
          <a:lstStyle/>
          <a:p>
            <a:r>
              <a:rPr lang="en-US" dirty="0" err="1"/>
              <a:t>Mlflow</a:t>
            </a:r>
            <a:r>
              <a:rPr lang="en-US" dirty="0"/>
              <a:t> dashboard</a:t>
            </a:r>
          </a:p>
        </p:txBody>
      </p:sp>
      <p:pic>
        <p:nvPicPr>
          <p:cNvPr id="5" name="Content Placeholder 4">
            <a:extLst>
              <a:ext uri="{FF2B5EF4-FFF2-40B4-BE49-F238E27FC236}">
                <a16:creationId xmlns:a16="http://schemas.microsoft.com/office/drawing/2014/main" id="{B4EB1A0D-E6D5-8F85-39A6-1ED28AE51A08}"/>
              </a:ext>
            </a:extLst>
          </p:cNvPr>
          <p:cNvPicPr>
            <a:picLocks noGrp="1" noChangeAspect="1"/>
          </p:cNvPicPr>
          <p:nvPr>
            <p:ph idx="1"/>
          </p:nvPr>
        </p:nvPicPr>
        <p:blipFill>
          <a:blip r:embed="rId2"/>
          <a:stretch>
            <a:fillRect/>
          </a:stretch>
        </p:blipFill>
        <p:spPr>
          <a:xfrm>
            <a:off x="3145338" y="2557463"/>
            <a:ext cx="5901324" cy="3317875"/>
          </a:xfrm>
          <a:prstGeom prst="rect">
            <a:avLst/>
          </a:prstGeom>
        </p:spPr>
      </p:pic>
    </p:spTree>
    <p:extLst>
      <p:ext uri="{BB962C8B-B14F-4D97-AF65-F5344CB8AC3E}">
        <p14:creationId xmlns:p14="http://schemas.microsoft.com/office/powerpoint/2010/main" val="1191971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5386B-9556-8F46-25B0-FD8CEB52B5FA}"/>
              </a:ext>
            </a:extLst>
          </p:cNvPr>
          <p:cNvSpPr>
            <a:spLocks noGrp="1"/>
          </p:cNvSpPr>
          <p:nvPr>
            <p:ph type="title"/>
          </p:nvPr>
        </p:nvSpPr>
        <p:spPr/>
        <p:txBody>
          <a:bodyPr/>
          <a:lstStyle/>
          <a:p>
            <a:r>
              <a:rPr lang="en-US" b="1" dirty="0"/>
              <a:t>DVC</a:t>
            </a:r>
            <a:r>
              <a:rPr lang="en-US" dirty="0"/>
              <a:t> tracks</a:t>
            </a:r>
          </a:p>
        </p:txBody>
      </p:sp>
      <p:pic>
        <p:nvPicPr>
          <p:cNvPr id="5" name="Content Placeholder 4">
            <a:extLst>
              <a:ext uri="{FF2B5EF4-FFF2-40B4-BE49-F238E27FC236}">
                <a16:creationId xmlns:a16="http://schemas.microsoft.com/office/drawing/2014/main" id="{994ADBA3-C25A-B47E-CA4C-C7DD4377B9E1}"/>
              </a:ext>
            </a:extLst>
          </p:cNvPr>
          <p:cNvPicPr>
            <a:picLocks noGrp="1" noChangeAspect="1"/>
          </p:cNvPicPr>
          <p:nvPr>
            <p:ph idx="1"/>
          </p:nvPr>
        </p:nvPicPr>
        <p:blipFill>
          <a:blip r:embed="rId2"/>
          <a:stretch>
            <a:fillRect/>
          </a:stretch>
        </p:blipFill>
        <p:spPr>
          <a:xfrm>
            <a:off x="3145338" y="2557463"/>
            <a:ext cx="5901324" cy="3317875"/>
          </a:xfrm>
          <a:prstGeom prst="rect">
            <a:avLst/>
          </a:prstGeom>
        </p:spPr>
      </p:pic>
    </p:spTree>
    <p:extLst>
      <p:ext uri="{BB962C8B-B14F-4D97-AF65-F5344CB8AC3E}">
        <p14:creationId xmlns:p14="http://schemas.microsoft.com/office/powerpoint/2010/main" val="3204418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B00D5-1C0B-FD3A-F0D2-F669A6E359F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B6FCCA5-D157-CC11-2AAE-DB22AD563AA2}"/>
              </a:ext>
            </a:extLst>
          </p:cNvPr>
          <p:cNvSpPr>
            <a:spLocks noGrp="1"/>
          </p:cNvSpPr>
          <p:nvPr>
            <p:ph idx="1"/>
          </p:nvPr>
        </p:nvSpPr>
        <p:spPr/>
        <p:txBody>
          <a:bodyPr/>
          <a:lstStyle/>
          <a:p>
            <a:r>
              <a:rPr lang="en-US" dirty="0" err="1"/>
              <a:t>MLflow</a:t>
            </a:r>
            <a:r>
              <a:rPr lang="en-US" dirty="0"/>
              <a:t> Tracking Documentation (mlflow.org)</a:t>
            </a:r>
          </a:p>
          <a:p>
            <a:r>
              <a:rPr lang="en-US" dirty="0" err="1"/>
              <a:t>Streamlit</a:t>
            </a:r>
            <a:r>
              <a:rPr lang="en-US" dirty="0"/>
              <a:t> Framework (streamlit.io)</a:t>
            </a:r>
          </a:p>
          <a:p>
            <a:r>
              <a:rPr lang="en-US" dirty="0"/>
              <a:t>Scikit‑Learn Machine Learning Library (scikit-learn.org)</a:t>
            </a:r>
          </a:p>
          <a:p>
            <a:r>
              <a:rPr lang="en-US" dirty="0"/>
              <a:t>Google </a:t>
            </a:r>
          </a:p>
          <a:p>
            <a:r>
              <a:rPr lang="en-US" dirty="0"/>
              <a:t>You tube</a:t>
            </a:r>
          </a:p>
          <a:p>
            <a:endParaRPr lang="en-US" dirty="0"/>
          </a:p>
        </p:txBody>
      </p:sp>
    </p:spTree>
    <p:extLst>
      <p:ext uri="{BB962C8B-B14F-4D97-AF65-F5344CB8AC3E}">
        <p14:creationId xmlns:p14="http://schemas.microsoft.com/office/powerpoint/2010/main" val="1718457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15917943-A3DA-9DF5-8562-1E582056EE29}"/>
              </a:ext>
            </a:extLst>
          </p:cNvPr>
          <p:cNvPicPr>
            <a:picLocks noGrp="1" noChangeAspect="1"/>
          </p:cNvPicPr>
          <p:nvPr>
            <p:ph idx="1"/>
          </p:nvPr>
        </p:nvPicPr>
        <p:blipFill>
          <a:blip r:embed="rId2"/>
          <a:srcRect t="11461" b="6018"/>
          <a:stretch>
            <a:fillRect/>
          </a:stretch>
        </p:blipFill>
        <p:spPr>
          <a:xfrm>
            <a:off x="1386348" y="1194619"/>
            <a:ext cx="9527458" cy="4680719"/>
          </a:xfrm>
          <a:prstGeom prst="rect">
            <a:avLst/>
          </a:prstGeom>
        </p:spPr>
      </p:pic>
    </p:spTree>
    <p:extLst>
      <p:ext uri="{BB962C8B-B14F-4D97-AF65-F5344CB8AC3E}">
        <p14:creationId xmlns:p14="http://schemas.microsoft.com/office/powerpoint/2010/main" val="35058739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748</TotalTime>
  <Words>502</Words>
  <Application>Microsoft Office PowerPoint</Application>
  <PresentationFormat>Widescreen</PresentationFormat>
  <Paragraphs>48</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Garamond</vt:lpstr>
      <vt:lpstr>Organic</vt:lpstr>
      <vt:lpstr>Sales Forecasting Across Multiple Retail Stores</vt:lpstr>
      <vt:lpstr>1ST Notebook for detailed EDA Process</vt:lpstr>
      <vt:lpstr>Univariate analysis, Bivariate analysis, Multivariate analysis</vt:lpstr>
      <vt:lpstr>Business Insights-</vt:lpstr>
      <vt:lpstr>Logging</vt:lpstr>
      <vt:lpstr>Notebook 2 - Machine Learning, Build Pipeline with Random Forest</vt:lpstr>
      <vt:lpstr>Why This Is Good </vt:lpstr>
      <vt:lpstr>Notebook 3 - Time Series Analysis</vt:lpstr>
      <vt:lpstr>The sliding‑window transformation successfully reframed the Rossmann sales time series into a supervised learning dataset.</vt:lpstr>
      <vt:lpstr>Forecast vs actual sales</vt:lpstr>
      <vt:lpstr>Notebook 4 = Deep learning (LSTM/RNN)</vt:lpstr>
      <vt:lpstr>Prediction + Inverse Scaling</vt:lpstr>
      <vt:lpstr>streamlit run sales_dashboard.py</vt:lpstr>
      <vt:lpstr>Local URL: http://localhost:8501   Network URL: http://192.168.31.18:8501</vt:lpstr>
      <vt:lpstr>URL domain - project-6-sg5jhnrbdh2zk2qdab2mpd</vt:lpstr>
      <vt:lpstr>The Live Site Link</vt:lpstr>
      <vt:lpstr>Mlflow dashboard</vt:lpstr>
      <vt:lpstr>DVC tracks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HUT2099</dc:creator>
  <cp:lastModifiedBy>HUT2099</cp:lastModifiedBy>
  <cp:revision>22</cp:revision>
  <dcterms:created xsi:type="dcterms:W3CDTF">2026-06-15T15:01:04Z</dcterms:created>
  <dcterms:modified xsi:type="dcterms:W3CDTF">2026-06-16T14:42:14Z</dcterms:modified>
</cp:coreProperties>
</file>